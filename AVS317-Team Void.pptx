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7" roundtripDataSignature="AMtx7mgjskg4ZTrV3itjFBRAoFNxYw66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2" name="Google Shape;9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3" name="Google Shape;9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9f09daff6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3" name="Google Shape;103;g3a9f09daff6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3a9f09daff6_0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2" name="Google Shape;11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3" name="Google Shape;11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2" name="Google Shape;12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3" name="Google Shape;123;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 name="Google Shape;13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9f09daff6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2" name="Google Shape;142;g3a9f09daff6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a9f09daff6_0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4" name="Google Shape;15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9f09daff6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5" name="Google Shape;165;g3a9f09daff6_0_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a9f09daff6_0_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9"/>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10"/>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11"/>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1"/>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12"/>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2"/>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2"/>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2"/>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1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5"/>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5"/>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6"/>
          <p:cNvSpPr/>
          <p:nvPr>
            <p:ph idx="2" type="pic"/>
          </p:nvPr>
        </p:nvSpPr>
        <p:spPr>
          <a:xfrm>
            <a:off x="2389717" y="612775"/>
            <a:ext cx="7315200" cy="4114800"/>
          </a:xfrm>
          <a:prstGeom prst="rect">
            <a:avLst/>
          </a:prstGeom>
          <a:noFill/>
          <a:ln>
            <a:noFill/>
          </a:ln>
        </p:spPr>
      </p:sp>
      <p:sp>
        <p:nvSpPr>
          <p:cNvPr id="68" name="Google Shape;68;p16"/>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7"/>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8"/>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1pPr>
            <a:lvl2pPr lvl="1"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2pPr>
            <a:lvl3pPr lvl="2"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3pPr>
            <a:lvl4pPr lvl="3"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4pPr>
            <a:lvl5pPr lvl="4"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5pPr>
            <a:lvl6pPr lvl="5"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6pPr>
            <a:lvl7pPr lvl="6"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7pPr>
            <a:lvl8pPr lvl="7"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8pPr>
            <a:lvl9pPr lvl="8"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9pPr>
          </a:lstStyle>
          <a:p/>
        </p:txBody>
      </p:sp>
      <p:sp>
        <p:nvSpPr>
          <p:cNvPr id="11" name="Google Shape;11;p7"/>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1941100" y="3251900"/>
            <a:ext cx="8172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chemeClr val="dk1"/>
                </a:solidFill>
                <a:latin typeface="Arial"/>
                <a:ea typeface="Arial"/>
                <a:cs typeface="Arial"/>
                <a:sym typeface="Arial"/>
              </a:rPr>
              <a:t>Team </a:t>
            </a:r>
            <a:r>
              <a:rPr b="1" lang="en-US" sz="3600">
                <a:solidFill>
                  <a:schemeClr val="dk1"/>
                </a:solidFill>
              </a:rPr>
              <a:t>Void</a:t>
            </a:r>
            <a:endParaRPr b="0" i="0" sz="3600" u="none" cap="none" strike="noStrike">
              <a:solidFill>
                <a:schemeClr val="dk1"/>
              </a:solidFill>
              <a:latin typeface="Calibri"/>
              <a:ea typeface="Calibri"/>
              <a:cs typeface="Calibri"/>
              <a:sym typeface="Calibri"/>
            </a:endParaRPr>
          </a:p>
        </p:txBody>
      </p:sp>
      <p:pic>
        <p:nvPicPr>
          <p:cNvPr descr="A white letter on a blue background&#10;&#10;AI-generated content may be incorrect." id="89" name="Google Shape;89;p1"/>
          <p:cNvPicPr preferRelativeResize="0"/>
          <p:nvPr/>
        </p:nvPicPr>
        <p:blipFill rotWithShape="1">
          <a:blip r:embed="rId3">
            <a:alphaModFix/>
          </a:blip>
          <a:srcRect b="0" l="0" r="0" t="0"/>
          <a:stretch/>
        </p:blipFill>
        <p:spPr>
          <a:xfrm>
            <a:off x="3818468" y="468988"/>
            <a:ext cx="4608451" cy="8401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0" y="6354762"/>
            <a:ext cx="12191999" cy="503238"/>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96" name="Google Shape;96;p2"/>
          <p:cNvSpPr txBox="1"/>
          <p:nvPr>
            <p:ph type="title"/>
          </p:nvPr>
        </p:nvSpPr>
        <p:spPr>
          <a:xfrm>
            <a:off x="1935675" y="3707150"/>
            <a:ext cx="8924400" cy="2325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br>
              <a:rPr b="1" lang="en-US" sz="3600">
                <a:latin typeface="Times New Roman"/>
                <a:ea typeface="Times New Roman"/>
                <a:cs typeface="Times New Roman"/>
                <a:sym typeface="Times New Roman"/>
              </a:rPr>
            </a:br>
            <a:r>
              <a:rPr b="1" lang="en-US" sz="3600">
                <a:latin typeface="Arial"/>
                <a:ea typeface="Arial"/>
                <a:cs typeface="Arial"/>
                <a:sym typeface="Arial"/>
              </a:rPr>
              <a:t>Problem</a:t>
            </a:r>
            <a:r>
              <a:rPr b="1" lang="en-US" sz="3600">
                <a:latin typeface="Times New Roman"/>
                <a:ea typeface="Times New Roman"/>
                <a:cs typeface="Times New Roman"/>
                <a:sym typeface="Times New Roman"/>
              </a:rPr>
              <a:t> </a:t>
            </a:r>
            <a:r>
              <a:rPr b="1" lang="en-US" sz="3600">
                <a:latin typeface="Arial"/>
                <a:ea typeface="Arial"/>
                <a:cs typeface="Arial"/>
                <a:sym typeface="Arial"/>
              </a:rPr>
              <a:t>Statement :</a:t>
            </a:r>
            <a:r>
              <a:rPr b="1" lang="en-US" sz="2000">
                <a:latin typeface="Arial"/>
                <a:ea typeface="Arial"/>
                <a:cs typeface="Arial"/>
                <a:sym typeface="Arial"/>
              </a:rPr>
              <a:t> </a:t>
            </a:r>
            <a:r>
              <a:rPr b="1" lang="en-US" sz="2000">
                <a:latin typeface="Arial"/>
                <a:ea typeface="Arial"/>
                <a:cs typeface="Arial"/>
                <a:sym typeface="Arial"/>
              </a:rPr>
              <a:t>Small and marginal farmers rarely</a:t>
            </a:r>
            <a:endParaRPr b="1"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000">
                <a:latin typeface="Arial"/>
                <a:ea typeface="Arial"/>
                <a:cs typeface="Arial"/>
                <a:sym typeface="Arial"/>
              </a:rPr>
              <a:t>receive timely, location-specific agricultural advice. Depending on</a:t>
            </a:r>
            <a:endParaRPr b="1"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000">
                <a:latin typeface="Arial"/>
                <a:ea typeface="Arial"/>
                <a:cs typeface="Arial"/>
                <a:sym typeface="Arial"/>
              </a:rPr>
              <a:t>outdated or generic guidance leads to poor crop choices, inefficient</a:t>
            </a:r>
            <a:endParaRPr b="1"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000">
                <a:latin typeface="Arial"/>
                <a:ea typeface="Arial"/>
                <a:cs typeface="Arial"/>
                <a:sym typeface="Arial"/>
              </a:rPr>
              <a:t>resource use, and avoidable yield losses.</a:t>
            </a:r>
            <a:endParaRPr b="1" sz="2000">
              <a:latin typeface="Arial"/>
              <a:ea typeface="Arial"/>
              <a:cs typeface="Arial"/>
              <a:sym typeface="Arial"/>
            </a:endParaRPr>
          </a:p>
          <a:p>
            <a:pPr indent="0" lvl="0" marL="0" rtl="0" algn="l">
              <a:spcBef>
                <a:spcPts val="0"/>
              </a:spcBef>
              <a:spcAft>
                <a:spcPts val="0"/>
              </a:spcAft>
              <a:buNone/>
            </a:pPr>
            <a:r>
              <a:t/>
            </a:r>
            <a:endParaRPr b="1" sz="3600">
              <a:latin typeface="Arial"/>
              <a:ea typeface="Arial"/>
              <a:cs typeface="Arial"/>
              <a:sym typeface="Arial"/>
            </a:endParaRPr>
          </a:p>
        </p:txBody>
      </p:sp>
      <p:sp>
        <p:nvSpPr>
          <p:cNvPr id="97" name="Google Shape;97;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pic>
        <p:nvPicPr>
          <p:cNvPr descr="A white letter on a blue background&#10;&#10;AI-generated content may be incorrect." id="98" name="Google Shape;98;p2"/>
          <p:cNvPicPr preferRelativeResize="0"/>
          <p:nvPr/>
        </p:nvPicPr>
        <p:blipFill rotWithShape="1">
          <a:blip r:embed="rId3">
            <a:alphaModFix/>
          </a:blip>
          <a:srcRect b="0" l="0" r="0" t="0"/>
          <a:stretch/>
        </p:blipFill>
        <p:spPr>
          <a:xfrm>
            <a:off x="4647494" y="537814"/>
            <a:ext cx="3187424" cy="582682"/>
          </a:xfrm>
          <a:prstGeom prst="rect">
            <a:avLst/>
          </a:prstGeom>
          <a:noFill/>
          <a:ln>
            <a:noFill/>
          </a:ln>
        </p:spPr>
      </p:pic>
      <p:sp>
        <p:nvSpPr>
          <p:cNvPr id="99" name="Google Shape;99;p2"/>
          <p:cNvSpPr txBox="1"/>
          <p:nvPr/>
        </p:nvSpPr>
        <p:spPr>
          <a:xfrm>
            <a:off x="5539363" y="1324075"/>
            <a:ext cx="1403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Oswald"/>
                <a:ea typeface="Oswald"/>
                <a:cs typeface="Oswald"/>
                <a:sym typeface="Oswald"/>
              </a:rPr>
              <a:t>AVS317</a:t>
            </a:r>
            <a:endParaRPr sz="3200">
              <a:solidFill>
                <a:schemeClr val="dk1"/>
              </a:solidFill>
              <a:latin typeface="Oswald"/>
              <a:ea typeface="Oswald"/>
              <a:cs typeface="Oswald"/>
              <a:sym typeface="Oswald"/>
            </a:endParaRPr>
          </a:p>
        </p:txBody>
      </p:sp>
      <p:sp>
        <p:nvSpPr>
          <p:cNvPr id="100" name="Google Shape;100;p2"/>
          <p:cNvSpPr txBox="1"/>
          <p:nvPr/>
        </p:nvSpPr>
        <p:spPr>
          <a:xfrm>
            <a:off x="3122275" y="2204750"/>
            <a:ext cx="67428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Oswald"/>
                <a:ea typeface="Oswald"/>
                <a:cs typeface="Oswald"/>
                <a:sym typeface="Oswald"/>
              </a:rPr>
              <a:t>DIGITAL EMPOWERMENT FOR RURAL</a:t>
            </a:r>
            <a:endParaRPr sz="3200">
              <a:solidFill>
                <a:schemeClr val="dk1"/>
              </a:solidFill>
              <a:latin typeface="Oswald"/>
              <a:ea typeface="Oswald"/>
              <a:cs typeface="Oswald"/>
              <a:sym typeface="Oswald"/>
            </a:endParaRPr>
          </a:p>
          <a:p>
            <a:pPr indent="0" lvl="0" marL="0" rtl="0" algn="ctr">
              <a:spcBef>
                <a:spcPts val="0"/>
              </a:spcBef>
              <a:spcAft>
                <a:spcPts val="0"/>
              </a:spcAft>
              <a:buNone/>
            </a:pPr>
            <a:r>
              <a:rPr lang="en-US" sz="3200">
                <a:solidFill>
                  <a:schemeClr val="dk1"/>
                </a:solidFill>
                <a:latin typeface="Oswald"/>
                <a:ea typeface="Oswald"/>
                <a:cs typeface="Oswald"/>
                <a:sym typeface="Oswald"/>
              </a:rPr>
              <a:t>COMMUNITIES.</a:t>
            </a:r>
            <a:endParaRPr sz="3200">
              <a:solidFill>
                <a:schemeClr val="dk1"/>
              </a:solidFill>
              <a:latin typeface="Oswald"/>
              <a:ea typeface="Oswald"/>
              <a:cs typeface="Oswald"/>
              <a:sym typeface="Oswald"/>
            </a:endParaRPr>
          </a:p>
          <a:p>
            <a:pPr indent="0" lvl="0" marL="0" rtl="0" algn="ctr">
              <a:spcBef>
                <a:spcPts val="0"/>
              </a:spcBef>
              <a:spcAft>
                <a:spcPts val="0"/>
              </a:spcAft>
              <a:buNone/>
            </a:pPr>
            <a:r>
              <a:t/>
            </a:r>
            <a:endParaRPr sz="3200">
              <a:solidFill>
                <a:schemeClr val="dk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a9f09daff6_0_4"/>
          <p:cNvSpPr/>
          <p:nvPr/>
        </p:nvSpPr>
        <p:spPr>
          <a:xfrm>
            <a:off x="0" y="6354762"/>
            <a:ext cx="12192000" cy="503100"/>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07" name="Google Shape;107;g3a9f09daff6_0_4"/>
          <p:cNvSpPr txBox="1"/>
          <p:nvPr>
            <p:ph type="title"/>
          </p:nvPr>
        </p:nvSpPr>
        <p:spPr>
          <a:xfrm>
            <a:off x="697425" y="1361925"/>
            <a:ext cx="11228700" cy="4492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br>
              <a:rPr b="1" lang="en-US" sz="3600">
                <a:latin typeface="Times New Roman"/>
                <a:ea typeface="Times New Roman"/>
                <a:cs typeface="Times New Roman"/>
                <a:sym typeface="Times New Roman"/>
              </a:rPr>
            </a:br>
            <a:r>
              <a:rPr b="1" lang="en-US" sz="3600">
                <a:latin typeface="Arial"/>
                <a:ea typeface="Arial"/>
                <a:cs typeface="Arial"/>
                <a:sym typeface="Arial"/>
              </a:rPr>
              <a:t>Description </a:t>
            </a:r>
            <a:r>
              <a:rPr b="1" lang="en-US" sz="3600">
                <a:latin typeface="Arial"/>
                <a:ea typeface="Arial"/>
                <a:cs typeface="Arial"/>
                <a:sym typeface="Arial"/>
              </a:rPr>
              <a:t>:</a:t>
            </a:r>
            <a:r>
              <a:rPr b="1" lang="en-US" sz="2000">
                <a:latin typeface="Arial"/>
                <a:ea typeface="Arial"/>
                <a:cs typeface="Arial"/>
                <a:sym typeface="Arial"/>
              </a:rPr>
              <a:t> </a:t>
            </a:r>
            <a:r>
              <a:rPr b="1" lang="en-US" sz="2000">
                <a:latin typeface="Arial"/>
                <a:ea typeface="Arial"/>
                <a:cs typeface="Arial"/>
                <a:sym typeface="Arial"/>
              </a:rPr>
              <a:t>Farmers often struggle to decide which crops to grow and what fertilizers to use because they lack access to timely weather information, accurate soil data, and expert agricultural guidance. Traditional advisory systems are generic, not personalized, and do not consider the farmer’s real-time environment or soil conditions.</a:t>
            </a:r>
            <a:endParaRPr b="1"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000">
                <a:latin typeface="Arial"/>
                <a:ea typeface="Arial"/>
                <a:cs typeface="Arial"/>
                <a:sym typeface="Arial"/>
              </a:rPr>
              <a:t>To solve this, there is a need for an intelligent, automated system that can combine real-time weather, farmer-specific soil attributes, and machine-learning models to provide personalized crop recommendations, fertilizer advice, and follow-up agricultural support through a simple conversational interface.</a:t>
            </a:r>
            <a:endParaRPr b="1" sz="2000">
              <a:latin typeface="Arial"/>
              <a:ea typeface="Arial"/>
              <a:cs typeface="Arial"/>
              <a:sym typeface="Arial"/>
            </a:endParaRPr>
          </a:p>
          <a:p>
            <a:pPr indent="0" lvl="0" marL="0" rtl="0" algn="l">
              <a:spcBef>
                <a:spcPts val="0"/>
              </a:spcBef>
              <a:spcAft>
                <a:spcPts val="0"/>
              </a:spcAft>
              <a:buNone/>
            </a:pPr>
            <a:r>
              <a:t/>
            </a:r>
            <a:endParaRPr b="1" sz="2000">
              <a:latin typeface="Arial"/>
              <a:ea typeface="Arial"/>
              <a:cs typeface="Arial"/>
              <a:sym typeface="Arial"/>
            </a:endParaRPr>
          </a:p>
        </p:txBody>
      </p:sp>
      <p:sp>
        <p:nvSpPr>
          <p:cNvPr id="108" name="Google Shape;108;g3a9f09daff6_0_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pic>
        <p:nvPicPr>
          <p:cNvPr descr="A white letter on a blue background&#10;&#10;AI-generated content may be incorrect." id="109" name="Google Shape;109;g3a9f09daff6_0_4"/>
          <p:cNvPicPr preferRelativeResize="0"/>
          <p:nvPr/>
        </p:nvPicPr>
        <p:blipFill rotWithShape="1">
          <a:blip r:embed="rId3">
            <a:alphaModFix/>
          </a:blip>
          <a:srcRect b="0" l="0" r="0" t="0"/>
          <a:stretch/>
        </p:blipFill>
        <p:spPr>
          <a:xfrm>
            <a:off x="4647494" y="537814"/>
            <a:ext cx="3187424" cy="5826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p:nvPr/>
        </p:nvSpPr>
        <p:spPr>
          <a:xfrm>
            <a:off x="0" y="6354762"/>
            <a:ext cx="12191999" cy="503238"/>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16" name="Google Shape;116;p3"/>
          <p:cNvSpPr txBox="1"/>
          <p:nvPr>
            <p:ph type="title"/>
          </p:nvPr>
        </p:nvSpPr>
        <p:spPr>
          <a:xfrm>
            <a:off x="5378292" y="1234477"/>
            <a:ext cx="2281800" cy="58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Arial"/>
                <a:ea typeface="Arial"/>
                <a:cs typeface="Arial"/>
                <a:sym typeface="Arial"/>
              </a:rPr>
              <a:t>Solution</a:t>
            </a:r>
            <a:endParaRPr/>
          </a:p>
        </p:txBody>
      </p:sp>
      <p:sp>
        <p:nvSpPr>
          <p:cNvPr id="117" name="Google Shape;117;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pic>
        <p:nvPicPr>
          <p:cNvPr descr="A white letter on a blue background&#10;&#10;AI-generated content may be incorrect." id="118" name="Google Shape;118;p3"/>
          <p:cNvPicPr preferRelativeResize="0"/>
          <p:nvPr/>
        </p:nvPicPr>
        <p:blipFill rotWithShape="1">
          <a:blip r:embed="rId3">
            <a:alphaModFix/>
          </a:blip>
          <a:srcRect b="0" l="0" r="0" t="0"/>
          <a:stretch/>
        </p:blipFill>
        <p:spPr>
          <a:xfrm>
            <a:off x="4925521" y="445138"/>
            <a:ext cx="3187424" cy="582682"/>
          </a:xfrm>
          <a:prstGeom prst="rect">
            <a:avLst/>
          </a:prstGeom>
          <a:noFill/>
          <a:ln>
            <a:noFill/>
          </a:ln>
        </p:spPr>
      </p:pic>
      <p:sp>
        <p:nvSpPr>
          <p:cNvPr id="119" name="Google Shape;119;p3"/>
          <p:cNvSpPr txBox="1"/>
          <p:nvPr/>
        </p:nvSpPr>
        <p:spPr>
          <a:xfrm>
            <a:off x="537525" y="2439575"/>
            <a:ext cx="11442000" cy="42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Oswald"/>
                <a:ea typeface="Oswald"/>
                <a:cs typeface="Oswald"/>
                <a:sym typeface="Oswald"/>
              </a:rPr>
              <a:t>This project introduces an intelligent AI-driven Agricultural Assistant that provides personalized farming recommendations through a conversational interface. The system automatically gathers real-time environmental data using the farmer’s location and retrieves soil attributes from Firebase to ensure highly accurate inputs. It integrates machine learning models for crop and fertilizer prediction and uses Google Gemini’s tool-calling to make decisions dynamically and naturally within the conversation. The assistant guides farmers step-by-step—suggesting the best crop to grow, the right fertilizers to use, and offering follow-up advice on care, dosage, and cultivation practices. By combining weather intelligence, soil profiling, ML prediction, and natural language reasoning, the solution eliminates guesswork and delivers actionable, farmer-specific agricultural support in real time.</a:t>
            </a:r>
            <a:endParaRPr sz="2300">
              <a:solidFill>
                <a:schemeClr val="dk1"/>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p:nvPr/>
        </p:nvSpPr>
        <p:spPr>
          <a:xfrm>
            <a:off x="0" y="6354762"/>
            <a:ext cx="12191999" cy="503238"/>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26" name="Google Shape;126;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A white letter on a blue background&#10;&#10;AI-generated content may be incorrect." id="127" name="Google Shape;127;p4"/>
          <p:cNvPicPr preferRelativeResize="0"/>
          <p:nvPr/>
        </p:nvPicPr>
        <p:blipFill rotWithShape="1">
          <a:blip r:embed="rId3">
            <a:alphaModFix/>
          </a:blip>
          <a:srcRect b="0" l="0" r="0" t="0"/>
          <a:stretch/>
        </p:blipFill>
        <p:spPr>
          <a:xfrm>
            <a:off x="4503332" y="476030"/>
            <a:ext cx="3187424" cy="582682"/>
          </a:xfrm>
          <a:prstGeom prst="rect">
            <a:avLst/>
          </a:prstGeom>
          <a:noFill/>
          <a:ln>
            <a:noFill/>
          </a:ln>
        </p:spPr>
      </p:pic>
      <p:pic>
        <p:nvPicPr>
          <p:cNvPr id="128" name="Google Shape;128;p4"/>
          <p:cNvPicPr preferRelativeResize="0"/>
          <p:nvPr/>
        </p:nvPicPr>
        <p:blipFill>
          <a:blip r:embed="rId4">
            <a:alphaModFix/>
          </a:blip>
          <a:stretch>
            <a:fillRect/>
          </a:stretch>
        </p:blipFill>
        <p:spPr>
          <a:xfrm>
            <a:off x="2898400" y="1058712"/>
            <a:ext cx="6395197" cy="49912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5"/>
          <p:cNvSpPr/>
          <p:nvPr/>
        </p:nvSpPr>
        <p:spPr>
          <a:xfrm>
            <a:off x="0" y="6354762"/>
            <a:ext cx="12191999" cy="503238"/>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35" name="Google Shape;135;p5"/>
          <p:cNvSpPr txBox="1"/>
          <p:nvPr>
            <p:ph type="title"/>
          </p:nvPr>
        </p:nvSpPr>
        <p:spPr>
          <a:xfrm>
            <a:off x="4405191" y="1136659"/>
            <a:ext cx="3960300" cy="659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Arial"/>
                <a:ea typeface="Arial"/>
                <a:cs typeface="Arial"/>
                <a:sym typeface="Arial"/>
              </a:rPr>
              <a:t>Tech Stack</a:t>
            </a:r>
            <a:endParaRPr b="1" sz="3600">
              <a:latin typeface="Arial"/>
              <a:ea typeface="Arial"/>
              <a:cs typeface="Arial"/>
              <a:sym typeface="Arial"/>
            </a:endParaRPr>
          </a:p>
        </p:txBody>
      </p:sp>
      <p:sp>
        <p:nvSpPr>
          <p:cNvPr id="136" name="Google Shape;136;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A white letter on a blue background&#10;&#10;AI-generated content may be incorrect." id="137" name="Google Shape;137;p5"/>
          <p:cNvPicPr preferRelativeResize="0"/>
          <p:nvPr/>
        </p:nvPicPr>
        <p:blipFill rotWithShape="1">
          <a:blip r:embed="rId3">
            <a:alphaModFix/>
          </a:blip>
          <a:srcRect b="0" l="0" r="0" t="0"/>
          <a:stretch/>
        </p:blipFill>
        <p:spPr>
          <a:xfrm>
            <a:off x="4791656" y="476030"/>
            <a:ext cx="3187424" cy="582682"/>
          </a:xfrm>
          <a:prstGeom prst="rect">
            <a:avLst/>
          </a:prstGeom>
          <a:noFill/>
          <a:ln>
            <a:noFill/>
          </a:ln>
        </p:spPr>
      </p:pic>
      <p:sp>
        <p:nvSpPr>
          <p:cNvPr id="138" name="Google Shape;138;p5"/>
          <p:cNvSpPr txBox="1"/>
          <p:nvPr/>
        </p:nvSpPr>
        <p:spPr>
          <a:xfrm>
            <a:off x="235125" y="2597125"/>
            <a:ext cx="88770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 Backend</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FastAPI — High-performance backend framework for API and tool endpoints</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Python 3.x — Core backend language</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Joblib — Loading ML crop &amp; fertilizer prediction models</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Google Gemini 2.5 Flash — LLM with function-calling for intelligent chaining</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HTTPX — Async HTTP client for internal tool calls</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Pydantic — Request/response validation</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139" name="Google Shape;139;p5"/>
          <p:cNvSpPr txBox="1"/>
          <p:nvPr/>
        </p:nvSpPr>
        <p:spPr>
          <a:xfrm>
            <a:off x="6276325" y="2622325"/>
            <a:ext cx="5702100" cy="3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 Weather &amp; Environment Services</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WeatherAPI — Real-time temperature, humidity, rainfall</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lru_cache — Improves performance for repeated weather fetches</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 Machine Learning</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Crop Recommendation Model (crop_model.joblib)</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Fertilizer Recommendation Model (fertilizer_model.joblib)</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rPr lang="en-US">
                <a:solidFill>
                  <a:schemeClr val="dk1"/>
                </a:solidFill>
                <a:latin typeface="Oswald"/>
                <a:ea typeface="Oswald"/>
                <a:cs typeface="Oswald"/>
                <a:sym typeface="Oswald"/>
              </a:rPr>
              <a:t>NumPy / Scikit-learn — Model training &amp; preprocessing</a:t>
            </a:r>
            <a:endParaRPr>
              <a:solidFill>
                <a:schemeClr val="dk1"/>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Custom feature extraction pipelines</a:t>
            </a:r>
            <a:endParaRPr>
              <a:solidFill>
                <a:schemeClr val="dk1"/>
              </a:solidFill>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g3a9f09daff6_0_21"/>
          <p:cNvSpPr/>
          <p:nvPr/>
        </p:nvSpPr>
        <p:spPr>
          <a:xfrm>
            <a:off x="0" y="6354762"/>
            <a:ext cx="12192000" cy="503100"/>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46" name="Google Shape;146;g3a9f09daff6_0_21"/>
          <p:cNvSpPr txBox="1"/>
          <p:nvPr>
            <p:ph type="title"/>
          </p:nvPr>
        </p:nvSpPr>
        <p:spPr>
          <a:xfrm>
            <a:off x="4405191" y="1136659"/>
            <a:ext cx="3960300" cy="659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Arial"/>
                <a:ea typeface="Arial"/>
                <a:cs typeface="Arial"/>
                <a:sym typeface="Arial"/>
              </a:rPr>
              <a:t>Tech Stack</a:t>
            </a:r>
            <a:endParaRPr b="1" sz="3600">
              <a:latin typeface="Arial"/>
              <a:ea typeface="Arial"/>
              <a:cs typeface="Arial"/>
              <a:sym typeface="Arial"/>
            </a:endParaRPr>
          </a:p>
        </p:txBody>
      </p:sp>
      <p:sp>
        <p:nvSpPr>
          <p:cNvPr id="147" name="Google Shape;147;g3a9f09daff6_0_2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A white letter on a blue background&#10;&#10;AI-generated content may be incorrect." id="148" name="Google Shape;148;g3a9f09daff6_0_21"/>
          <p:cNvPicPr preferRelativeResize="0"/>
          <p:nvPr/>
        </p:nvPicPr>
        <p:blipFill rotWithShape="1">
          <a:blip r:embed="rId3">
            <a:alphaModFix/>
          </a:blip>
          <a:srcRect b="0" l="0" r="0" t="0"/>
          <a:stretch/>
        </p:blipFill>
        <p:spPr>
          <a:xfrm>
            <a:off x="4791656" y="476030"/>
            <a:ext cx="3187424" cy="582682"/>
          </a:xfrm>
          <a:prstGeom prst="rect">
            <a:avLst/>
          </a:prstGeom>
          <a:noFill/>
          <a:ln>
            <a:noFill/>
          </a:ln>
        </p:spPr>
      </p:pic>
      <p:sp>
        <p:nvSpPr>
          <p:cNvPr id="149" name="Google Shape;149;g3a9f09daff6_0_21"/>
          <p:cNvSpPr txBox="1"/>
          <p:nvPr/>
        </p:nvSpPr>
        <p:spPr>
          <a:xfrm>
            <a:off x="235125" y="2597125"/>
            <a:ext cx="8877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Oswald"/>
                <a:ea typeface="Oswald"/>
                <a:cs typeface="Oswald"/>
                <a:sym typeface="Oswald"/>
              </a:rPr>
              <a:t>🔗 AI + Tool Orchestration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Gemini Function Calling</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fetch_environment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predict_crop</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predict_fertilizer</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Session Memory System</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Tracks crop, environment, fertilizer status across chat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Context-aware intent detection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150" name="Google Shape;150;g3a9f09daff6_0_21"/>
          <p:cNvSpPr txBox="1"/>
          <p:nvPr/>
        </p:nvSpPr>
        <p:spPr>
          <a:xfrm>
            <a:off x="6276325" y="2622325"/>
            <a:ext cx="5702100" cy="3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Oswald"/>
                <a:ea typeface="Oswald"/>
                <a:cs typeface="Oswald"/>
                <a:sym typeface="Oswald"/>
              </a:rPr>
              <a:t>🔥 Cloud &amp; Database</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Firebase Firestore</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Stores user soil profile (moisture, soil type, NPK, pH, crop type)</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 Frontend (Flutter App)</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Flutter 3.x — UI framework</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Dart — Frontend programming language</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Firebase Auth — User authentication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US">
                <a:solidFill>
                  <a:schemeClr val="dk1"/>
                </a:solidFill>
                <a:latin typeface="Oswald"/>
                <a:ea typeface="Oswald"/>
                <a:cs typeface="Oswald"/>
                <a:sym typeface="Oswald"/>
              </a:rPr>
              <a:t>Geolocator — Location fetching for weather/environment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p:nvPr/>
        </p:nvSpPr>
        <p:spPr>
          <a:xfrm>
            <a:off x="0" y="6354762"/>
            <a:ext cx="12191999" cy="503238"/>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57" name="Google Shape;157;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A white letter on a blue background&#10;&#10;AI-generated content may be incorrect." id="158" name="Google Shape;158;p6"/>
          <p:cNvPicPr preferRelativeResize="0"/>
          <p:nvPr/>
        </p:nvPicPr>
        <p:blipFill rotWithShape="1">
          <a:blip r:embed="rId3">
            <a:alphaModFix/>
          </a:blip>
          <a:srcRect b="0" l="0" r="0" t="0"/>
          <a:stretch/>
        </p:blipFill>
        <p:spPr>
          <a:xfrm>
            <a:off x="4791656" y="476030"/>
            <a:ext cx="3187424" cy="582682"/>
          </a:xfrm>
          <a:prstGeom prst="rect">
            <a:avLst/>
          </a:prstGeom>
          <a:noFill/>
          <a:ln>
            <a:noFill/>
          </a:ln>
        </p:spPr>
      </p:pic>
      <p:pic>
        <p:nvPicPr>
          <p:cNvPr id="159" name="Google Shape;159;p6"/>
          <p:cNvPicPr preferRelativeResize="0"/>
          <p:nvPr/>
        </p:nvPicPr>
        <p:blipFill>
          <a:blip r:embed="rId4">
            <a:alphaModFix/>
          </a:blip>
          <a:stretch>
            <a:fillRect/>
          </a:stretch>
        </p:blipFill>
        <p:spPr>
          <a:xfrm>
            <a:off x="152400" y="152400"/>
            <a:ext cx="2722483" cy="6049962"/>
          </a:xfrm>
          <a:prstGeom prst="rect">
            <a:avLst/>
          </a:prstGeom>
          <a:noFill/>
          <a:ln>
            <a:noFill/>
          </a:ln>
        </p:spPr>
      </p:pic>
      <p:sp>
        <p:nvSpPr>
          <p:cNvPr id="160" name="Google Shape;160;p6"/>
          <p:cNvSpPr txBox="1"/>
          <p:nvPr/>
        </p:nvSpPr>
        <p:spPr>
          <a:xfrm>
            <a:off x="3055375" y="2196425"/>
            <a:ext cx="2188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Oswald"/>
                <a:ea typeface="Oswald"/>
                <a:cs typeface="Oswald"/>
                <a:sym typeface="Oswald"/>
              </a:rPr>
              <a:t>homepage/dashboard</a:t>
            </a:r>
            <a:endParaRPr sz="1500">
              <a:solidFill>
                <a:schemeClr val="dk1"/>
              </a:solidFill>
              <a:latin typeface="Oswald"/>
              <a:ea typeface="Oswald"/>
              <a:cs typeface="Oswald"/>
              <a:sym typeface="Oswald"/>
            </a:endParaRPr>
          </a:p>
        </p:txBody>
      </p:sp>
      <p:pic>
        <p:nvPicPr>
          <p:cNvPr id="161" name="Google Shape;161;p6"/>
          <p:cNvPicPr preferRelativeResize="0"/>
          <p:nvPr/>
        </p:nvPicPr>
        <p:blipFill>
          <a:blip r:embed="rId5">
            <a:alphaModFix/>
          </a:blip>
          <a:stretch>
            <a:fillRect/>
          </a:stretch>
        </p:blipFill>
        <p:spPr>
          <a:xfrm>
            <a:off x="8859905" y="152400"/>
            <a:ext cx="2722483" cy="6049962"/>
          </a:xfrm>
          <a:prstGeom prst="rect">
            <a:avLst/>
          </a:prstGeom>
          <a:noFill/>
          <a:ln>
            <a:noFill/>
          </a:ln>
        </p:spPr>
      </p:pic>
      <p:sp>
        <p:nvSpPr>
          <p:cNvPr id="162" name="Google Shape;162;p6"/>
          <p:cNvSpPr txBox="1"/>
          <p:nvPr/>
        </p:nvSpPr>
        <p:spPr>
          <a:xfrm>
            <a:off x="7227175" y="2425875"/>
            <a:ext cx="2188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Oswald"/>
                <a:ea typeface="Oswald"/>
                <a:cs typeface="Oswald"/>
                <a:sym typeface="Oswald"/>
              </a:rPr>
              <a:t>ask llm page</a:t>
            </a:r>
            <a:endParaRPr sz="1500">
              <a:solidFill>
                <a:schemeClr val="dk1"/>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a9f09daff6_0_35"/>
          <p:cNvSpPr/>
          <p:nvPr/>
        </p:nvSpPr>
        <p:spPr>
          <a:xfrm>
            <a:off x="0" y="6354762"/>
            <a:ext cx="12192000" cy="503100"/>
          </a:xfrm>
          <a:prstGeom prst="rect">
            <a:avLst/>
          </a:prstGeom>
          <a:solidFill>
            <a:srgbClr val="040F23"/>
          </a:solidFill>
          <a:ln cap="flat" cmpd="sng" w="9525">
            <a:solidFill>
              <a:srgbClr val="040F23"/>
            </a:solidFill>
            <a:prstDash val="solid"/>
            <a:miter lim="800000"/>
            <a:headEnd len="sm" w="sm" type="none"/>
            <a:tailEnd len="sm" w="sm" type="none"/>
          </a:ln>
          <a:effectLst>
            <a:outerShdw rotWithShape="0" dir="5400000" dist="23000">
              <a:srgbClr val="80808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69" name="Google Shape;169;g3a9f09daff6_0_3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A white letter on a blue background&#10;&#10;AI-generated content may be incorrect." id="170" name="Google Shape;170;g3a9f09daff6_0_35"/>
          <p:cNvPicPr preferRelativeResize="0"/>
          <p:nvPr/>
        </p:nvPicPr>
        <p:blipFill rotWithShape="1">
          <a:blip r:embed="rId3">
            <a:alphaModFix/>
          </a:blip>
          <a:srcRect b="0" l="0" r="0" t="0"/>
          <a:stretch/>
        </p:blipFill>
        <p:spPr>
          <a:xfrm>
            <a:off x="4791656" y="476030"/>
            <a:ext cx="3187424" cy="582682"/>
          </a:xfrm>
          <a:prstGeom prst="rect">
            <a:avLst/>
          </a:prstGeom>
          <a:noFill/>
          <a:ln>
            <a:noFill/>
          </a:ln>
        </p:spPr>
      </p:pic>
      <p:sp>
        <p:nvSpPr>
          <p:cNvPr id="171" name="Google Shape;171;g3a9f09daff6_0_35"/>
          <p:cNvSpPr txBox="1"/>
          <p:nvPr/>
        </p:nvSpPr>
        <p:spPr>
          <a:xfrm>
            <a:off x="5006113" y="2782050"/>
            <a:ext cx="27585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100">
                <a:solidFill>
                  <a:schemeClr val="dk1"/>
                </a:solidFill>
                <a:latin typeface="Oswald"/>
                <a:ea typeface="Oswald"/>
                <a:cs typeface="Oswald"/>
                <a:sym typeface="Oswald"/>
              </a:rPr>
              <a:t>Thank You</a:t>
            </a:r>
            <a:endParaRPr sz="5100">
              <a:solidFill>
                <a:schemeClr val="dk1"/>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2013-12-12T18:46:50Z</dcterms:created>
  <dc:creator>Crowdfunder</dc:creator>
</cp:coreProperties>
</file>